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p:scale>
          <a:sx n="100" d="100"/>
          <a:sy n="100" d="100"/>
        </p:scale>
        <p:origin x="3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53A0-EE94-9490-6C6C-2F0825BDBA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A80B0E-0BA1-6BBA-3000-093672ABD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21728F-C430-A5AF-EE0E-AF4CD60359DE}"/>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5" name="Footer Placeholder 4">
            <a:extLst>
              <a:ext uri="{FF2B5EF4-FFF2-40B4-BE49-F238E27FC236}">
                <a16:creationId xmlns:a16="http://schemas.microsoft.com/office/drawing/2014/main" id="{624266B2-9E78-8A63-B381-B50B602B60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644F7-37C4-D494-3241-006443DE9D9A}"/>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333558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67B13-2C2C-3624-E6E1-2A8B99958F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34A040-DEC9-2688-A6F8-63D7A1F61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9BFE6-0E66-72C4-3173-5A87B4875873}"/>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5" name="Footer Placeholder 4">
            <a:extLst>
              <a:ext uri="{FF2B5EF4-FFF2-40B4-BE49-F238E27FC236}">
                <a16:creationId xmlns:a16="http://schemas.microsoft.com/office/drawing/2014/main" id="{F24FE06B-CA51-0BAB-D07A-209A2BDABE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C5C1E-3824-1757-A09E-2400F7A653E8}"/>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3177060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F0ADE-D9B2-9A65-1AB9-6DC9DD50F2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AF91C-B9B2-2A9C-8D8F-3C9426CD07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D31EDD-3CAD-D002-84F8-549912E80CEA}"/>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5" name="Footer Placeholder 4">
            <a:extLst>
              <a:ext uri="{FF2B5EF4-FFF2-40B4-BE49-F238E27FC236}">
                <a16:creationId xmlns:a16="http://schemas.microsoft.com/office/drawing/2014/main" id="{A57FB5D0-C0AD-2706-88A0-CBA03C9708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B5CC04-C30B-277C-ABB4-CC98F607D332}"/>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4236403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7F38-5072-2DB2-7058-FE78804417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98614C-31B3-64F5-8AC0-4C2AFD3341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9E2496-B008-D218-0682-F34689B7D6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4254EA-5749-D2F3-124F-63ABD8DEE181}"/>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6" name="Footer Placeholder 5">
            <a:extLst>
              <a:ext uri="{FF2B5EF4-FFF2-40B4-BE49-F238E27FC236}">
                <a16:creationId xmlns:a16="http://schemas.microsoft.com/office/drawing/2014/main" id="{50300D4D-40EB-DD1E-829F-B8F30B6FD2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A2D32-57C0-139C-E59F-5D058D63BF5F}"/>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2871888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E76D7-9063-DDFC-7172-2F2EAA4D4F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5FDC5E-CE2E-F613-E25C-6A93376DEF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68A754-1353-4A44-AA4B-9DE4B04811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E762FC-C55D-4665-A5BD-8214D7AEB7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010335-7827-EAFC-59D0-AEBF4E7AEC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1796F4-BB81-158D-6AE9-864A05036A01}"/>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8" name="Footer Placeholder 7">
            <a:extLst>
              <a:ext uri="{FF2B5EF4-FFF2-40B4-BE49-F238E27FC236}">
                <a16:creationId xmlns:a16="http://schemas.microsoft.com/office/drawing/2014/main" id="{4623469B-204F-1A68-3B78-E8349493AA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D42A9C-4F76-0D2D-536D-63170F4F2C47}"/>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2628513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2B02-FD47-E8F7-2930-82F8E3380B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4BD81E-9EB3-7914-76FA-FDC20CD7C5B3}"/>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4" name="Footer Placeholder 3">
            <a:extLst>
              <a:ext uri="{FF2B5EF4-FFF2-40B4-BE49-F238E27FC236}">
                <a16:creationId xmlns:a16="http://schemas.microsoft.com/office/drawing/2014/main" id="{CC34C47B-61B9-D278-CCA8-89FA5BD274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C17884-3722-8757-4E6C-CE37ABBADF37}"/>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790253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478BEB-9132-8F4E-B1BC-6B4D4E2FF81C}"/>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3" name="Footer Placeholder 2">
            <a:extLst>
              <a:ext uri="{FF2B5EF4-FFF2-40B4-BE49-F238E27FC236}">
                <a16:creationId xmlns:a16="http://schemas.microsoft.com/office/drawing/2014/main" id="{9B3C9C09-FEBC-661F-EBB6-A93985D1C3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424652-5C9F-A1C8-68FC-84D648F6066C}"/>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1609184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EA6F-8A14-086E-3AC6-108F2644EF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BBFDDF-DAC8-B5BD-4108-AF18C050EA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6FE47E-27E9-1C80-9BF8-28A1E9D1D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53DFD1-6E46-5FCC-102D-E3A8DFD6E762}"/>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6" name="Footer Placeholder 5">
            <a:extLst>
              <a:ext uri="{FF2B5EF4-FFF2-40B4-BE49-F238E27FC236}">
                <a16:creationId xmlns:a16="http://schemas.microsoft.com/office/drawing/2014/main" id="{0388788D-1CEF-5E9C-7308-D283B32375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C052E1-DA47-AA05-E2B0-82D5D61D0EDC}"/>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2263563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6174-BD5C-C1D6-4DC5-D9C6400171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4B16CD-8330-E5C4-D305-41B27942FF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8D1C19-033B-B379-1E70-30A9ADE674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CD6DBF-B68B-4F23-3EE7-4B27AAE50F97}"/>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6" name="Footer Placeholder 5">
            <a:extLst>
              <a:ext uri="{FF2B5EF4-FFF2-40B4-BE49-F238E27FC236}">
                <a16:creationId xmlns:a16="http://schemas.microsoft.com/office/drawing/2014/main" id="{785CA345-2FFB-C921-32C8-7C5CE440A8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E5399-7A43-890D-C335-60AFA776E79B}"/>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4216432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1189B-51C3-1014-6B64-6F4F0F3E81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440FF4-945E-95C3-519F-1D29F1FCFF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97EE55-4D67-1933-90EE-0B9C14D66A59}"/>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5" name="Footer Placeholder 4">
            <a:extLst>
              <a:ext uri="{FF2B5EF4-FFF2-40B4-BE49-F238E27FC236}">
                <a16:creationId xmlns:a16="http://schemas.microsoft.com/office/drawing/2014/main" id="{D367294C-9C6D-C768-88A8-5404EAD1A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DA70AD-2646-A974-9CA0-F76B567C98F5}"/>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375108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BA198-85D4-3BB0-A307-2E4B41F7C4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8B641D-84C3-EA81-1902-898DC3ED89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2ABD6-09C6-6CB2-7682-EAFF43671709}"/>
              </a:ext>
            </a:extLst>
          </p:cNvPr>
          <p:cNvSpPr>
            <a:spLocks noGrp="1"/>
          </p:cNvSpPr>
          <p:nvPr>
            <p:ph type="dt" sz="half" idx="10"/>
          </p:nvPr>
        </p:nvSpPr>
        <p:spPr/>
        <p:txBody>
          <a:bodyPr/>
          <a:lstStyle/>
          <a:p>
            <a:fld id="{20A60550-4FB8-4085-A37E-D41D04551973}" type="datetimeFigureOut">
              <a:rPr lang="en-US" smtClean="0"/>
              <a:t>2/28/2026</a:t>
            </a:fld>
            <a:endParaRPr lang="en-US"/>
          </a:p>
        </p:txBody>
      </p:sp>
      <p:sp>
        <p:nvSpPr>
          <p:cNvPr id="5" name="Footer Placeholder 4">
            <a:extLst>
              <a:ext uri="{FF2B5EF4-FFF2-40B4-BE49-F238E27FC236}">
                <a16:creationId xmlns:a16="http://schemas.microsoft.com/office/drawing/2014/main" id="{8D319E52-E020-50CD-55B9-B5A11F585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3F5446-84A7-B764-0B21-1D068A62F112}"/>
              </a:ext>
            </a:extLst>
          </p:cNvPr>
          <p:cNvSpPr>
            <a:spLocks noGrp="1"/>
          </p:cNvSpPr>
          <p:nvPr>
            <p:ph type="sldNum" sz="quarter" idx="12"/>
          </p:nvPr>
        </p:nvSpPr>
        <p:spPr/>
        <p:txBody>
          <a:bodyPr/>
          <a:lstStyle/>
          <a:p>
            <a:fld id="{D4CD1563-CA85-4D5B-A570-CE2810B1B0E9}" type="slidenum">
              <a:rPr lang="en-US" smtClean="0"/>
              <a:t>‹#›</a:t>
            </a:fld>
            <a:endParaRPr lang="en-US"/>
          </a:p>
        </p:txBody>
      </p:sp>
    </p:spTree>
    <p:extLst>
      <p:ext uri="{BB962C8B-B14F-4D97-AF65-F5344CB8AC3E}">
        <p14:creationId xmlns:p14="http://schemas.microsoft.com/office/powerpoint/2010/main" val="3443531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554BE4-F1E7-E949-5FDE-2657189C8A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5A68F9-838B-0D80-73BE-DC76C7C1CD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91DF4-9386-82E0-0A22-57D719174F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A60550-4FB8-4085-A37E-D41D04551973}" type="datetimeFigureOut">
              <a:rPr lang="en-US" smtClean="0"/>
              <a:t>2/28/2026</a:t>
            </a:fld>
            <a:endParaRPr lang="en-US"/>
          </a:p>
        </p:txBody>
      </p:sp>
      <p:sp>
        <p:nvSpPr>
          <p:cNvPr id="5" name="Footer Placeholder 4">
            <a:extLst>
              <a:ext uri="{FF2B5EF4-FFF2-40B4-BE49-F238E27FC236}">
                <a16:creationId xmlns:a16="http://schemas.microsoft.com/office/drawing/2014/main" id="{E2A578AB-0FDB-083D-E0FB-93E2FCDD97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6293F3-150B-9BDE-822B-F8E05E3BD3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CD1563-CA85-4D5B-A570-CE2810B1B0E9}" type="slidenum">
              <a:rPr lang="en-US" smtClean="0"/>
              <a:t>‹#›</a:t>
            </a:fld>
            <a:endParaRPr lang="en-US"/>
          </a:p>
        </p:txBody>
      </p:sp>
    </p:spTree>
    <p:extLst>
      <p:ext uri="{BB962C8B-B14F-4D97-AF65-F5344CB8AC3E}">
        <p14:creationId xmlns:p14="http://schemas.microsoft.com/office/powerpoint/2010/main" val="2988865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E9E3F04-F836-0A1E-F81E-2B2DBBA8239F}"/>
              </a:ext>
            </a:extLst>
          </p:cNvPr>
          <p:cNvSpPr/>
          <p:nvPr/>
        </p:nvSpPr>
        <p:spPr>
          <a:xfrm>
            <a:off x="680174" y="2092687"/>
            <a:ext cx="10880747" cy="1135328"/>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3200" b="1" dirty="0">
                <a:solidFill>
                  <a:schemeClr val="tx1"/>
                </a:solidFill>
                <a:latin typeface="Arial" panose="020B0604020202020204" pitchFamily="34" charset="0"/>
                <a:cs typeface="Arial" panose="020B0604020202020204" pitchFamily="34" charset="0"/>
              </a:rPr>
              <a:t>AT00CK38-3004 Virtualization: Networks and Security</a:t>
            </a:r>
          </a:p>
        </p:txBody>
      </p:sp>
      <p:sp>
        <p:nvSpPr>
          <p:cNvPr id="5" name="Rectangle: Rounded Corners 4">
            <a:extLst>
              <a:ext uri="{FF2B5EF4-FFF2-40B4-BE49-F238E27FC236}">
                <a16:creationId xmlns:a16="http://schemas.microsoft.com/office/drawing/2014/main" id="{B8140C8C-7872-2407-E314-63CEB1561CB3}"/>
              </a:ext>
            </a:extLst>
          </p:cNvPr>
          <p:cNvSpPr/>
          <p:nvPr/>
        </p:nvSpPr>
        <p:spPr>
          <a:xfrm>
            <a:off x="680174" y="3287081"/>
            <a:ext cx="2873100" cy="590165"/>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Week 8 Exercise</a:t>
            </a:r>
          </a:p>
        </p:txBody>
      </p:sp>
      <p:sp>
        <p:nvSpPr>
          <p:cNvPr id="6" name="Rectangle: Rounded Corners 5">
            <a:extLst>
              <a:ext uri="{FF2B5EF4-FFF2-40B4-BE49-F238E27FC236}">
                <a16:creationId xmlns:a16="http://schemas.microsoft.com/office/drawing/2014/main" id="{F4A3F998-4D09-6B8A-71FD-15FEF8967500}"/>
              </a:ext>
            </a:extLst>
          </p:cNvPr>
          <p:cNvSpPr/>
          <p:nvPr/>
        </p:nvSpPr>
        <p:spPr>
          <a:xfrm>
            <a:off x="680174" y="3936313"/>
            <a:ext cx="3983880" cy="944064"/>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dirty="0">
                <a:solidFill>
                  <a:schemeClr val="tx1"/>
                </a:solidFill>
                <a:latin typeface="Arial" panose="020B0604020202020204" pitchFamily="34" charset="0"/>
                <a:cs typeface="Arial" panose="020B0604020202020204" pitchFamily="34" charset="0"/>
              </a:rPr>
              <a:t>Unubold Luvsandagva</a:t>
            </a:r>
          </a:p>
          <a:p>
            <a:r>
              <a:rPr lang="en-US" dirty="0">
                <a:solidFill>
                  <a:schemeClr val="tx1"/>
                </a:solidFill>
                <a:latin typeface="Arial" panose="020B0604020202020204" pitchFamily="34" charset="0"/>
                <a:cs typeface="Arial" panose="020B0604020202020204" pitchFamily="34" charset="0"/>
              </a:rPr>
              <a:t>Student ID: 2406120</a:t>
            </a:r>
          </a:p>
        </p:txBody>
      </p:sp>
    </p:spTree>
    <p:extLst>
      <p:ext uri="{BB962C8B-B14F-4D97-AF65-F5344CB8AC3E}">
        <p14:creationId xmlns:p14="http://schemas.microsoft.com/office/powerpoint/2010/main" val="2830927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F5CCBE1-2E4E-5A06-30A4-805D37DF5126}"/>
              </a:ext>
            </a:extLst>
          </p:cNvPr>
          <p:cNvSpPr/>
          <p:nvPr/>
        </p:nvSpPr>
        <p:spPr>
          <a:xfrm>
            <a:off x="434698" y="423447"/>
            <a:ext cx="2971289" cy="68733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Task 1 – The Reference</a:t>
            </a:r>
          </a:p>
        </p:txBody>
      </p:sp>
      <p:sp>
        <p:nvSpPr>
          <p:cNvPr id="8" name="TextBox 7">
            <a:extLst>
              <a:ext uri="{FF2B5EF4-FFF2-40B4-BE49-F238E27FC236}">
                <a16:creationId xmlns:a16="http://schemas.microsoft.com/office/drawing/2014/main" id="{39F1F7C4-0568-F89D-D9AD-3EF13DEE3A5E}"/>
              </a:ext>
            </a:extLst>
          </p:cNvPr>
          <p:cNvSpPr txBox="1"/>
          <p:nvPr/>
        </p:nvSpPr>
        <p:spPr>
          <a:xfrm>
            <a:off x="434698" y="1986124"/>
            <a:ext cx="6097022" cy="1477328"/>
          </a:xfrm>
          <a:prstGeom prst="rect">
            <a:avLst/>
          </a:prstGeom>
          <a:noFill/>
        </p:spPr>
        <p:txBody>
          <a:bodyPr wrap="square">
            <a:spAutoFit/>
          </a:bodyPr>
          <a:lstStyle/>
          <a:p>
            <a:r>
              <a:rPr lang="en-US" dirty="0"/>
              <a:t>Google chrome on Host Windows results: </a:t>
            </a:r>
          </a:p>
          <a:p>
            <a:r>
              <a:rPr lang="en-US" dirty="0"/>
              <a:t>				            1st run:    </a:t>
            </a:r>
            <a:r>
              <a:rPr lang="en-US" b="1" dirty="0"/>
              <a:t>26.7</a:t>
            </a:r>
            <a:r>
              <a:rPr lang="en-US" dirty="0"/>
              <a:t> </a:t>
            </a:r>
          </a:p>
          <a:p>
            <a:r>
              <a:rPr lang="en-US" dirty="0"/>
              <a:t>				            2nd run:   </a:t>
            </a:r>
            <a:r>
              <a:rPr lang="en-US" b="1" dirty="0"/>
              <a:t>30.9</a:t>
            </a:r>
          </a:p>
          <a:p>
            <a:r>
              <a:rPr lang="en-US" dirty="0"/>
              <a:t>				            3rd run:    </a:t>
            </a:r>
            <a:r>
              <a:rPr lang="en-US" b="1" dirty="0"/>
              <a:t>31.01</a:t>
            </a:r>
          </a:p>
          <a:p>
            <a:r>
              <a:rPr lang="en-US" dirty="0"/>
              <a:t>				                  AVG:    </a:t>
            </a:r>
            <a:r>
              <a:rPr lang="en-US" b="1" dirty="0"/>
              <a:t>29.53</a:t>
            </a:r>
          </a:p>
        </p:txBody>
      </p:sp>
      <p:sp>
        <p:nvSpPr>
          <p:cNvPr id="9" name="TextBox 8">
            <a:extLst>
              <a:ext uri="{FF2B5EF4-FFF2-40B4-BE49-F238E27FC236}">
                <a16:creationId xmlns:a16="http://schemas.microsoft.com/office/drawing/2014/main" id="{FD57DAEB-5788-D5A1-89BD-549337CDF48E}"/>
              </a:ext>
            </a:extLst>
          </p:cNvPr>
          <p:cNvSpPr txBox="1"/>
          <p:nvPr/>
        </p:nvSpPr>
        <p:spPr>
          <a:xfrm>
            <a:off x="434698" y="1523347"/>
            <a:ext cx="11679568" cy="369332"/>
          </a:xfrm>
          <a:prstGeom prst="rect">
            <a:avLst/>
          </a:prstGeom>
          <a:noFill/>
        </p:spPr>
        <p:txBody>
          <a:bodyPr wrap="square">
            <a:spAutoFit/>
          </a:bodyPr>
          <a:lstStyle/>
          <a:p>
            <a:r>
              <a:rPr lang="en-US" dirty="0"/>
              <a:t>“Google Chrome” browser on “Windows 11” OS for reference. Using  </a:t>
            </a:r>
            <a:r>
              <a:rPr lang="en-US" i="1" u="sng" dirty="0"/>
              <a:t>https://browserbench.org/Speedometer3.1/</a:t>
            </a:r>
          </a:p>
        </p:txBody>
      </p:sp>
      <p:sp>
        <p:nvSpPr>
          <p:cNvPr id="10" name="Rectangle: Rounded Corners 9">
            <a:extLst>
              <a:ext uri="{FF2B5EF4-FFF2-40B4-BE49-F238E27FC236}">
                <a16:creationId xmlns:a16="http://schemas.microsoft.com/office/drawing/2014/main" id="{49CF3217-9F39-EC52-08C2-B0641006B15E}"/>
              </a:ext>
            </a:extLst>
          </p:cNvPr>
          <p:cNvSpPr/>
          <p:nvPr/>
        </p:nvSpPr>
        <p:spPr>
          <a:xfrm>
            <a:off x="434698" y="3760809"/>
            <a:ext cx="3486789" cy="68733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Task 2 – Virtual Desktop (cloud)</a:t>
            </a:r>
          </a:p>
        </p:txBody>
      </p:sp>
      <p:sp>
        <p:nvSpPr>
          <p:cNvPr id="13" name="TextBox 12">
            <a:extLst>
              <a:ext uri="{FF2B5EF4-FFF2-40B4-BE49-F238E27FC236}">
                <a16:creationId xmlns:a16="http://schemas.microsoft.com/office/drawing/2014/main" id="{A12CEA0A-CDD1-041C-5E7B-405B4A2E42F0}"/>
              </a:ext>
            </a:extLst>
          </p:cNvPr>
          <p:cNvSpPr txBox="1"/>
          <p:nvPr/>
        </p:nvSpPr>
        <p:spPr>
          <a:xfrm>
            <a:off x="434698" y="4647310"/>
            <a:ext cx="11679568" cy="1477328"/>
          </a:xfrm>
          <a:prstGeom prst="rect">
            <a:avLst/>
          </a:prstGeom>
          <a:noFill/>
        </p:spPr>
        <p:txBody>
          <a:bodyPr wrap="square">
            <a:spAutoFit/>
          </a:bodyPr>
          <a:lstStyle/>
          <a:p>
            <a:r>
              <a:rPr lang="en-US" dirty="0"/>
              <a:t>Using LUT &amp; LAB Desktop portal.</a:t>
            </a:r>
          </a:p>
          <a:p>
            <a:r>
              <a:rPr lang="en-US" dirty="0"/>
              <a:t>Using virtual desktop was straight forward. First installed “Citrix” Workspace application since it was recommended on school website and logged in with my school credentials.</a:t>
            </a:r>
          </a:p>
          <a:p>
            <a:endParaRPr lang="en-US" dirty="0"/>
          </a:p>
          <a:p>
            <a:r>
              <a:rPr lang="en-US" dirty="0"/>
              <a:t>PS: Used LAB 2D Desktop</a:t>
            </a:r>
          </a:p>
        </p:txBody>
      </p:sp>
    </p:spTree>
    <p:extLst>
      <p:ext uri="{BB962C8B-B14F-4D97-AF65-F5344CB8AC3E}">
        <p14:creationId xmlns:p14="http://schemas.microsoft.com/office/powerpoint/2010/main" val="415873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D246B-6D13-FCEE-B72C-7683F343557A}"/>
            </a:ext>
          </a:extLst>
        </p:cNvPr>
        <p:cNvGrpSpPr/>
        <p:nvPr/>
      </p:nvGrpSpPr>
      <p:grpSpPr>
        <a:xfrm>
          <a:off x="0" y="0"/>
          <a:ext cx="0" cy="0"/>
          <a:chOff x="0" y="0"/>
          <a:chExt cx="0" cy="0"/>
        </a:xfrm>
      </p:grpSpPr>
      <p:pic>
        <p:nvPicPr>
          <p:cNvPr id="3" name="Picture 2" descr="A computer screen with a black screen&#10;&#10;AI-generated content may be incorrect.">
            <a:extLst>
              <a:ext uri="{FF2B5EF4-FFF2-40B4-BE49-F238E27FC236}">
                <a16:creationId xmlns:a16="http://schemas.microsoft.com/office/drawing/2014/main" id="{7C6D18E2-67DB-9FEE-2955-94B5ED3B61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891" y="968097"/>
            <a:ext cx="8367804" cy="5228651"/>
          </a:xfrm>
          <a:prstGeom prst="rect">
            <a:avLst/>
          </a:prstGeom>
          <a:ln>
            <a:solidFill>
              <a:schemeClr val="tx1"/>
            </a:solidFill>
          </a:ln>
        </p:spPr>
      </p:pic>
      <p:sp>
        <p:nvSpPr>
          <p:cNvPr id="5" name="TextBox 4">
            <a:extLst>
              <a:ext uri="{FF2B5EF4-FFF2-40B4-BE49-F238E27FC236}">
                <a16:creationId xmlns:a16="http://schemas.microsoft.com/office/drawing/2014/main" id="{09920236-193A-8C37-FA74-F9604D566226}"/>
              </a:ext>
            </a:extLst>
          </p:cNvPr>
          <p:cNvSpPr txBox="1"/>
          <p:nvPr/>
        </p:nvSpPr>
        <p:spPr>
          <a:xfrm>
            <a:off x="201495" y="308238"/>
            <a:ext cx="11679568" cy="369332"/>
          </a:xfrm>
          <a:prstGeom prst="rect">
            <a:avLst/>
          </a:prstGeom>
          <a:noFill/>
        </p:spPr>
        <p:txBody>
          <a:bodyPr wrap="square">
            <a:spAutoFit/>
          </a:bodyPr>
          <a:lstStyle/>
          <a:p>
            <a:r>
              <a:rPr lang="en-US" dirty="0"/>
              <a:t>Virtual Desktop:</a:t>
            </a:r>
            <a:endParaRPr lang="en-US" i="1" u="sng" dirty="0"/>
          </a:p>
        </p:txBody>
      </p:sp>
      <p:sp>
        <p:nvSpPr>
          <p:cNvPr id="7" name="TextBox 6">
            <a:extLst>
              <a:ext uri="{FF2B5EF4-FFF2-40B4-BE49-F238E27FC236}">
                <a16:creationId xmlns:a16="http://schemas.microsoft.com/office/drawing/2014/main" id="{B90420F8-7567-624C-BFC2-19520ED25FE4}"/>
              </a:ext>
            </a:extLst>
          </p:cNvPr>
          <p:cNvSpPr txBox="1"/>
          <p:nvPr/>
        </p:nvSpPr>
        <p:spPr>
          <a:xfrm>
            <a:off x="8935168" y="2086211"/>
            <a:ext cx="3148882" cy="2062103"/>
          </a:xfrm>
          <a:prstGeom prst="rect">
            <a:avLst/>
          </a:prstGeom>
          <a:noFill/>
        </p:spPr>
        <p:txBody>
          <a:bodyPr wrap="square">
            <a:spAutoFit/>
          </a:bodyPr>
          <a:lstStyle/>
          <a:p>
            <a:endParaRPr lang="en-US" sz="1600" dirty="0"/>
          </a:p>
          <a:p>
            <a:r>
              <a:rPr lang="en-US" sz="1600" dirty="0"/>
              <a:t>LAB Virtual Desktop (cloud) </a:t>
            </a:r>
          </a:p>
          <a:p>
            <a:r>
              <a:rPr lang="en-US" sz="1600" dirty="0"/>
              <a:t>"LAB 2D Desktop"</a:t>
            </a:r>
          </a:p>
          <a:p>
            <a:endParaRPr lang="en-US" sz="1600" dirty="0"/>
          </a:p>
          <a:p>
            <a:r>
              <a:rPr lang="en-US" sz="1600" dirty="0"/>
              <a:t>	1st run:    </a:t>
            </a:r>
            <a:r>
              <a:rPr lang="en-US" sz="1600" b="1" dirty="0"/>
              <a:t>6.8</a:t>
            </a:r>
          </a:p>
          <a:p>
            <a:r>
              <a:rPr lang="en-US" sz="1600" dirty="0"/>
              <a:t>	2nd run:</a:t>
            </a:r>
            <a:r>
              <a:rPr lang="en-US" sz="1600" b="1" dirty="0"/>
              <a:t>  8.39</a:t>
            </a:r>
          </a:p>
          <a:p>
            <a:r>
              <a:rPr lang="en-US" sz="1600" dirty="0"/>
              <a:t>	3rd run:   </a:t>
            </a:r>
            <a:r>
              <a:rPr lang="en-US" sz="1600" b="1" dirty="0"/>
              <a:t>8.61</a:t>
            </a:r>
          </a:p>
          <a:p>
            <a:r>
              <a:rPr lang="en-US" sz="1600" dirty="0"/>
              <a:t>	      AVG:   </a:t>
            </a:r>
            <a:r>
              <a:rPr lang="en-US" sz="1600" b="1" dirty="0"/>
              <a:t>7.93</a:t>
            </a:r>
          </a:p>
        </p:txBody>
      </p:sp>
    </p:spTree>
    <p:extLst>
      <p:ext uri="{BB962C8B-B14F-4D97-AF65-F5344CB8AC3E}">
        <p14:creationId xmlns:p14="http://schemas.microsoft.com/office/powerpoint/2010/main" val="2681805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28820-516A-E0D5-A072-937081A137D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624C994-541B-5A8B-7BDA-34118A02C041}"/>
              </a:ext>
            </a:extLst>
          </p:cNvPr>
          <p:cNvSpPr/>
          <p:nvPr/>
        </p:nvSpPr>
        <p:spPr>
          <a:xfrm>
            <a:off x="434698" y="423447"/>
            <a:ext cx="5728107" cy="68733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Task 3 – VirtualBox Remote Display Extension (VRDE)</a:t>
            </a:r>
          </a:p>
        </p:txBody>
      </p:sp>
      <p:sp>
        <p:nvSpPr>
          <p:cNvPr id="2" name="TextBox 1">
            <a:extLst>
              <a:ext uri="{FF2B5EF4-FFF2-40B4-BE49-F238E27FC236}">
                <a16:creationId xmlns:a16="http://schemas.microsoft.com/office/drawing/2014/main" id="{2C98BB05-A7E0-D1DF-7894-39FDA3F701CB}"/>
              </a:ext>
            </a:extLst>
          </p:cNvPr>
          <p:cNvSpPr txBox="1"/>
          <p:nvPr/>
        </p:nvSpPr>
        <p:spPr>
          <a:xfrm>
            <a:off x="430417" y="1369924"/>
            <a:ext cx="11464776" cy="1815882"/>
          </a:xfrm>
          <a:prstGeom prst="rect">
            <a:avLst/>
          </a:prstGeom>
          <a:noFill/>
        </p:spPr>
        <p:txBody>
          <a:bodyPr wrap="square">
            <a:spAutoFit/>
          </a:bodyPr>
          <a:lstStyle/>
          <a:p>
            <a:pPr marL="342900" indent="-342900">
              <a:buFont typeface="+mj-lt"/>
              <a:buAutoNum type="arabicPeriod"/>
            </a:pPr>
            <a:r>
              <a:rPr lang="en-US" sz="1600" dirty="0">
                <a:latin typeface="Arial" panose="020B0604020202020204" pitchFamily="34" charset="0"/>
                <a:cs typeface="Arial" panose="020B0604020202020204" pitchFamily="34" charset="0"/>
              </a:rPr>
              <a:t>Install the </a:t>
            </a:r>
            <a:r>
              <a:rPr lang="en-US" sz="1600" u="sng" dirty="0">
                <a:latin typeface="Arial" panose="020B0604020202020204" pitchFamily="34" charset="0"/>
                <a:cs typeface="Arial" panose="020B0604020202020204" pitchFamily="34" charset="0"/>
              </a:rPr>
              <a:t>VirtualBox Extension Pack </a:t>
            </a:r>
            <a:r>
              <a:rPr lang="en-US" sz="1600" dirty="0">
                <a:latin typeface="Arial" panose="020B0604020202020204" pitchFamily="34" charset="0"/>
                <a:cs typeface="Arial" panose="020B0604020202020204" pitchFamily="34" charset="0"/>
              </a:rPr>
              <a:t>that matches your VirtualBox version, as this is required to use the remote display feature. </a:t>
            </a:r>
          </a:p>
          <a:p>
            <a:pPr marL="342900" indent="-342900">
              <a:buFont typeface="+mj-lt"/>
              <a:buAutoNum type="arabicPeriod"/>
            </a:pPr>
            <a:r>
              <a:rPr lang="en-US" sz="1600" dirty="0">
                <a:latin typeface="Arial" panose="020B0604020202020204" pitchFamily="34" charset="0"/>
                <a:cs typeface="Arial" panose="020B0604020202020204" pitchFamily="34" charset="0"/>
              </a:rPr>
              <a:t>After that, open your virtual machine settings in VirtualBox. Make sure to switch to Expert Mode, because the remote display options will not appear otherwise. If remote display menu is there but greyed out, make sure the extension pack is installed properly </a:t>
            </a:r>
          </a:p>
          <a:p>
            <a:pPr marL="342900" indent="-342900">
              <a:buFont typeface="+mj-lt"/>
              <a:buAutoNum type="arabicPeriod"/>
            </a:pPr>
            <a:r>
              <a:rPr lang="en-US" sz="1600" dirty="0">
                <a:latin typeface="Arial" panose="020B0604020202020204" pitchFamily="34" charset="0"/>
                <a:cs typeface="Arial" panose="020B0604020202020204" pitchFamily="34" charset="0"/>
              </a:rPr>
              <a:t>Then, go to the Display section and open the </a:t>
            </a:r>
            <a:r>
              <a:rPr lang="en-US" sz="1600" u="sng" dirty="0">
                <a:latin typeface="Arial" panose="020B0604020202020204" pitchFamily="34" charset="0"/>
                <a:cs typeface="Arial" panose="020B0604020202020204" pitchFamily="34" charset="0"/>
              </a:rPr>
              <a:t>Remote Display</a:t>
            </a:r>
            <a:r>
              <a:rPr lang="en-US" sz="1600" dirty="0">
                <a:latin typeface="Arial" panose="020B0604020202020204" pitchFamily="34" charset="0"/>
                <a:cs typeface="Arial" panose="020B0604020202020204" pitchFamily="34" charset="0"/>
              </a:rPr>
              <a:t> tab. Finally, enable the server by checking the “Enable Server” option. Here you can also change </a:t>
            </a:r>
            <a:r>
              <a:rPr lang="en-US" sz="1600" u="sng" dirty="0">
                <a:latin typeface="Arial" panose="020B0604020202020204" pitchFamily="34" charset="0"/>
                <a:cs typeface="Arial" panose="020B0604020202020204" pitchFamily="34" charset="0"/>
              </a:rPr>
              <a:t>Server port </a:t>
            </a:r>
            <a:r>
              <a:rPr lang="en-US" sz="1600" dirty="0">
                <a:latin typeface="Arial" panose="020B0604020202020204" pitchFamily="34" charset="0"/>
                <a:cs typeface="Arial" panose="020B0604020202020204" pitchFamily="34" charset="0"/>
              </a:rPr>
              <a:t>if you face error on window stating the port is already in use</a:t>
            </a:r>
          </a:p>
        </p:txBody>
      </p:sp>
      <p:pic>
        <p:nvPicPr>
          <p:cNvPr id="7" name="Picture 6" descr="A screenshot of a computer&#10;&#10;AI-generated content may be incorrect.">
            <a:extLst>
              <a:ext uri="{FF2B5EF4-FFF2-40B4-BE49-F238E27FC236}">
                <a16:creationId xmlns:a16="http://schemas.microsoft.com/office/drawing/2014/main" id="{03C35F68-455C-BEAC-2EE4-AC30EA74C3F5}"/>
              </a:ext>
            </a:extLst>
          </p:cNvPr>
          <p:cNvPicPr>
            <a:picLocks noChangeAspect="1"/>
          </p:cNvPicPr>
          <p:nvPr/>
        </p:nvPicPr>
        <p:blipFill>
          <a:blip r:embed="rId2">
            <a:extLst>
              <a:ext uri="{28A0092B-C50C-407E-A947-70E740481C1C}">
                <a14:useLocalDpi xmlns:a14="http://schemas.microsoft.com/office/drawing/2010/main" val="0"/>
              </a:ext>
            </a:extLst>
          </a:blip>
          <a:srcRect r="30420"/>
          <a:stretch>
            <a:fillRect/>
          </a:stretch>
        </p:blipFill>
        <p:spPr>
          <a:xfrm>
            <a:off x="670337" y="3305968"/>
            <a:ext cx="6340064" cy="3257069"/>
          </a:xfrm>
          <a:prstGeom prst="rect">
            <a:avLst/>
          </a:prstGeom>
          <a:ln>
            <a:solidFill>
              <a:schemeClr val="tx1"/>
            </a:solidFill>
          </a:ln>
        </p:spPr>
      </p:pic>
      <p:sp>
        <p:nvSpPr>
          <p:cNvPr id="8" name="Rectangle: Rounded Corners 7">
            <a:extLst>
              <a:ext uri="{FF2B5EF4-FFF2-40B4-BE49-F238E27FC236}">
                <a16:creationId xmlns:a16="http://schemas.microsoft.com/office/drawing/2014/main" id="{54A731F5-29D4-00F1-ED41-224BE5C15A41}"/>
              </a:ext>
            </a:extLst>
          </p:cNvPr>
          <p:cNvSpPr/>
          <p:nvPr/>
        </p:nvSpPr>
        <p:spPr>
          <a:xfrm>
            <a:off x="4384980" y="4818016"/>
            <a:ext cx="1595597" cy="300708"/>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7CAADB2D-B866-3332-EDF2-0CAC689FFEAB}"/>
              </a:ext>
            </a:extLst>
          </p:cNvPr>
          <p:cNvCxnSpPr>
            <a:cxnSpLocks/>
          </p:cNvCxnSpPr>
          <p:nvPr/>
        </p:nvCxnSpPr>
        <p:spPr>
          <a:xfrm flipH="1">
            <a:off x="6044476" y="4560408"/>
            <a:ext cx="1137791" cy="2147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37D069F-901E-95AC-D7C4-967EBB66503B}"/>
              </a:ext>
            </a:extLst>
          </p:cNvPr>
          <p:cNvCxnSpPr>
            <a:cxnSpLocks/>
          </p:cNvCxnSpPr>
          <p:nvPr/>
        </p:nvCxnSpPr>
        <p:spPr>
          <a:xfrm>
            <a:off x="2865130" y="4384055"/>
            <a:ext cx="467428" cy="2147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043BF81-1AEE-0326-17F0-0FECFE0067E5}"/>
              </a:ext>
            </a:extLst>
          </p:cNvPr>
          <p:cNvCxnSpPr>
            <a:cxnSpLocks/>
          </p:cNvCxnSpPr>
          <p:nvPr/>
        </p:nvCxnSpPr>
        <p:spPr>
          <a:xfrm flipH="1" flipV="1">
            <a:off x="2575672" y="3656484"/>
            <a:ext cx="289458" cy="377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E724040-F717-F48F-C424-E045A7538FD8}"/>
              </a:ext>
            </a:extLst>
          </p:cNvPr>
          <p:cNvSpPr txBox="1"/>
          <p:nvPr/>
        </p:nvSpPr>
        <p:spPr>
          <a:xfrm>
            <a:off x="7087805" y="3128859"/>
            <a:ext cx="4750237" cy="1077218"/>
          </a:xfrm>
          <a:prstGeom prst="rect">
            <a:avLst/>
          </a:prstGeom>
          <a:noFill/>
        </p:spPr>
        <p:txBody>
          <a:bodyPr wrap="square">
            <a:spAutoFit/>
          </a:bodyPr>
          <a:lstStyle/>
          <a:p>
            <a:endParaRPr lang="en-US" sz="1600" dirty="0"/>
          </a:p>
          <a:p>
            <a:pPr marL="342900" indent="-342900">
              <a:buFont typeface="Arial" panose="020B0604020202020204" pitchFamily="34" charset="0"/>
              <a:buChar char="•"/>
            </a:pPr>
            <a:r>
              <a:rPr lang="en-US" sz="1600" dirty="0"/>
              <a:t>Then connect to your virtual machine using Remote Desktop Connection on Windows using the server port you put on virtual box settings. </a:t>
            </a:r>
            <a:endParaRPr lang="en-US" sz="1600" b="1" dirty="0"/>
          </a:p>
        </p:txBody>
      </p:sp>
      <p:pic>
        <p:nvPicPr>
          <p:cNvPr id="20" name="Picture 19" descr="A screenshot of a computer&#10;&#10;AI-generated content may be incorrect.">
            <a:extLst>
              <a:ext uri="{FF2B5EF4-FFF2-40B4-BE49-F238E27FC236}">
                <a16:creationId xmlns:a16="http://schemas.microsoft.com/office/drawing/2014/main" id="{C4C8A498-CB5C-4D99-3A1E-1A8E82027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2093" y="4291674"/>
            <a:ext cx="3632623" cy="2233263"/>
          </a:xfrm>
          <a:prstGeom prst="rect">
            <a:avLst/>
          </a:prstGeom>
          <a:ln>
            <a:solidFill>
              <a:schemeClr val="tx1"/>
            </a:solidFill>
          </a:ln>
        </p:spPr>
      </p:pic>
      <p:sp>
        <p:nvSpPr>
          <p:cNvPr id="21" name="Rectangle: Rounded Corners 20">
            <a:extLst>
              <a:ext uri="{FF2B5EF4-FFF2-40B4-BE49-F238E27FC236}">
                <a16:creationId xmlns:a16="http://schemas.microsoft.com/office/drawing/2014/main" id="{D307E223-5991-F55C-2CB6-A9E482A37668}"/>
              </a:ext>
            </a:extLst>
          </p:cNvPr>
          <p:cNvSpPr/>
          <p:nvPr/>
        </p:nvSpPr>
        <p:spPr>
          <a:xfrm>
            <a:off x="7788580" y="5187368"/>
            <a:ext cx="1595597" cy="300708"/>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cxnSp>
        <p:nvCxnSpPr>
          <p:cNvPr id="22" name="Straight Arrow Connector 21">
            <a:extLst>
              <a:ext uri="{FF2B5EF4-FFF2-40B4-BE49-F238E27FC236}">
                <a16:creationId xmlns:a16="http://schemas.microsoft.com/office/drawing/2014/main" id="{2FB575AE-B688-5985-C63F-983A5D828828}"/>
              </a:ext>
            </a:extLst>
          </p:cNvPr>
          <p:cNvCxnSpPr>
            <a:cxnSpLocks/>
          </p:cNvCxnSpPr>
          <p:nvPr/>
        </p:nvCxnSpPr>
        <p:spPr>
          <a:xfrm>
            <a:off x="7200900" y="4560408"/>
            <a:ext cx="521193" cy="6269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5901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EAE33-A170-837E-4A51-3F657424BE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600B67-FC0E-7A56-1154-E4489708506D}"/>
              </a:ext>
            </a:extLst>
          </p:cNvPr>
          <p:cNvSpPr txBox="1"/>
          <p:nvPr/>
        </p:nvSpPr>
        <p:spPr>
          <a:xfrm>
            <a:off x="315795" y="212988"/>
            <a:ext cx="11679568" cy="338554"/>
          </a:xfrm>
          <a:prstGeom prst="rect">
            <a:avLst/>
          </a:prstGeom>
          <a:noFill/>
        </p:spPr>
        <p:txBody>
          <a:bodyPr wrap="square">
            <a:spAutoFit/>
          </a:bodyPr>
          <a:lstStyle/>
          <a:p>
            <a:r>
              <a:rPr lang="en-US" sz="1600" dirty="0"/>
              <a:t>Remote Display:</a:t>
            </a:r>
            <a:endParaRPr lang="en-US" sz="1600" i="1" u="sng" dirty="0"/>
          </a:p>
        </p:txBody>
      </p:sp>
      <p:pic>
        <p:nvPicPr>
          <p:cNvPr id="5" name="Picture 4" descr="A screenshot of a computer&#10;&#10;AI-generated content may be incorrect.">
            <a:extLst>
              <a:ext uri="{FF2B5EF4-FFF2-40B4-BE49-F238E27FC236}">
                <a16:creationId xmlns:a16="http://schemas.microsoft.com/office/drawing/2014/main" id="{EA191367-46B9-2590-6143-CBF622DB3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795" y="744751"/>
            <a:ext cx="8613158" cy="5368498"/>
          </a:xfrm>
          <a:prstGeom prst="rect">
            <a:avLst/>
          </a:prstGeom>
          <a:ln>
            <a:solidFill>
              <a:schemeClr val="tx1"/>
            </a:solidFill>
          </a:ln>
        </p:spPr>
      </p:pic>
      <p:sp>
        <p:nvSpPr>
          <p:cNvPr id="7" name="TextBox 6">
            <a:extLst>
              <a:ext uri="{FF2B5EF4-FFF2-40B4-BE49-F238E27FC236}">
                <a16:creationId xmlns:a16="http://schemas.microsoft.com/office/drawing/2014/main" id="{8B43DCFB-9DDD-10CE-646A-14AB74DF4BC0}"/>
              </a:ext>
            </a:extLst>
          </p:cNvPr>
          <p:cNvSpPr txBox="1"/>
          <p:nvPr/>
        </p:nvSpPr>
        <p:spPr>
          <a:xfrm>
            <a:off x="9088555" y="2274838"/>
            <a:ext cx="2787650" cy="2062103"/>
          </a:xfrm>
          <a:prstGeom prst="rect">
            <a:avLst/>
          </a:prstGeom>
          <a:noFill/>
        </p:spPr>
        <p:txBody>
          <a:bodyPr wrap="square">
            <a:spAutoFit/>
          </a:bodyPr>
          <a:lstStyle/>
          <a:p>
            <a:r>
              <a:rPr lang="en-US" sz="1600" dirty="0"/>
              <a:t>VirtualBox Remote Display Extension (VRDE) </a:t>
            </a:r>
          </a:p>
          <a:p>
            <a:r>
              <a:rPr lang="en-US" sz="1600" dirty="0"/>
              <a:t>Linux Mint:</a:t>
            </a:r>
          </a:p>
          <a:p>
            <a:endParaRPr lang="en-US" sz="1600" dirty="0"/>
          </a:p>
          <a:p>
            <a:r>
              <a:rPr lang="en-US" sz="1600" dirty="0"/>
              <a:t>	1st run:   </a:t>
            </a:r>
            <a:r>
              <a:rPr lang="en-US" sz="1600" b="1" dirty="0"/>
              <a:t>11.2</a:t>
            </a:r>
          </a:p>
          <a:p>
            <a:r>
              <a:rPr lang="en-US" sz="1600" dirty="0"/>
              <a:t>	2nd run:  </a:t>
            </a:r>
            <a:r>
              <a:rPr lang="en-US" sz="1600" b="1" dirty="0"/>
              <a:t>13.7</a:t>
            </a:r>
          </a:p>
          <a:p>
            <a:r>
              <a:rPr lang="en-US" sz="1600" dirty="0"/>
              <a:t>	3rd run:   </a:t>
            </a:r>
            <a:r>
              <a:rPr lang="en-US" sz="1600" b="1" dirty="0"/>
              <a:t>13.6</a:t>
            </a:r>
          </a:p>
          <a:p>
            <a:r>
              <a:rPr lang="en-US" sz="1600" dirty="0"/>
              <a:t>	      AVG:   </a:t>
            </a:r>
            <a:r>
              <a:rPr lang="en-US" sz="1600" b="1" dirty="0"/>
              <a:t>12.8</a:t>
            </a:r>
          </a:p>
        </p:txBody>
      </p:sp>
    </p:spTree>
    <p:extLst>
      <p:ext uri="{BB962C8B-B14F-4D97-AF65-F5344CB8AC3E}">
        <p14:creationId xmlns:p14="http://schemas.microsoft.com/office/powerpoint/2010/main" val="3254378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9F9B-AC1B-EDCB-E1E1-FE27FA89353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C16234B-47B1-FBAA-7D3C-53007EA2268B}"/>
              </a:ext>
            </a:extLst>
          </p:cNvPr>
          <p:cNvSpPr/>
          <p:nvPr/>
        </p:nvSpPr>
        <p:spPr>
          <a:xfrm>
            <a:off x="212448" y="180829"/>
            <a:ext cx="2971289" cy="48460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Task 4 - X11 Forwarding</a:t>
            </a:r>
          </a:p>
        </p:txBody>
      </p:sp>
      <p:sp>
        <p:nvSpPr>
          <p:cNvPr id="3" name="TextBox 2">
            <a:extLst>
              <a:ext uri="{FF2B5EF4-FFF2-40B4-BE49-F238E27FC236}">
                <a16:creationId xmlns:a16="http://schemas.microsoft.com/office/drawing/2014/main" id="{D2B0C727-FC2A-CE6E-A2E7-FFC5A8130B44}"/>
              </a:ext>
            </a:extLst>
          </p:cNvPr>
          <p:cNvSpPr txBox="1"/>
          <p:nvPr/>
        </p:nvSpPr>
        <p:spPr>
          <a:xfrm>
            <a:off x="148948" y="731331"/>
            <a:ext cx="11529213" cy="3046988"/>
          </a:xfrm>
          <a:prstGeom prst="rect">
            <a:avLst/>
          </a:prstGeom>
          <a:noFill/>
        </p:spPr>
        <p:txBody>
          <a:bodyPr wrap="square">
            <a:spAutoFit/>
          </a:bodyPr>
          <a:lstStyle/>
          <a:p>
            <a:pPr marL="342900" indent="-342900">
              <a:buFont typeface="+mj-lt"/>
              <a:buAutoNum type="arabicPeriod"/>
            </a:pPr>
            <a:r>
              <a:rPr lang="en-US" sz="1600" dirty="0">
                <a:latin typeface="Arial" panose="020B0604020202020204" pitchFamily="34" charset="0"/>
                <a:cs typeface="Arial" panose="020B0604020202020204" pitchFamily="34" charset="0"/>
              </a:rPr>
              <a:t>Install </a:t>
            </a:r>
            <a:r>
              <a:rPr lang="en-US" sz="1600" u="sng" dirty="0" err="1">
                <a:latin typeface="Arial" panose="020B0604020202020204" pitchFamily="34" charset="0"/>
                <a:cs typeface="Arial" panose="020B0604020202020204" pitchFamily="34" charset="0"/>
              </a:rPr>
              <a:t>Xming</a:t>
            </a:r>
            <a:r>
              <a:rPr lang="en-US" sz="1600" u="sng"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and </a:t>
            </a:r>
            <a:r>
              <a:rPr lang="en-US" sz="1600" u="sng" dirty="0">
                <a:latin typeface="Arial" panose="020B0604020202020204" pitchFamily="34" charset="0"/>
                <a:cs typeface="Arial" panose="020B0604020202020204" pitchFamily="34" charset="0"/>
              </a:rPr>
              <a:t>PuTTY</a:t>
            </a:r>
            <a:r>
              <a:rPr lang="en-US" sz="1600" dirty="0">
                <a:latin typeface="Arial" panose="020B0604020202020204" pitchFamily="34" charset="0"/>
                <a:cs typeface="Arial" panose="020B0604020202020204" pitchFamily="34" charset="0"/>
              </a:rPr>
              <a:t> on your Windows computer. </a:t>
            </a:r>
          </a:p>
          <a:p>
            <a:pPr marL="342900" indent="-342900">
              <a:buFont typeface="+mj-lt"/>
              <a:buAutoNum type="arabicPeriod"/>
            </a:pPr>
            <a:r>
              <a:rPr lang="en-US" sz="1600" dirty="0">
                <a:latin typeface="Arial" panose="020B0604020202020204" pitchFamily="34" charset="0"/>
                <a:cs typeface="Arial" panose="020B0604020202020204" pitchFamily="34" charset="0"/>
              </a:rPr>
              <a:t>In the VirtualBox settings for your virtual machine, go to the Network section and make sure the Bridged Adapter option is selected. </a:t>
            </a:r>
          </a:p>
          <a:p>
            <a:pPr marL="342900" indent="-342900">
              <a:buFont typeface="+mj-lt"/>
              <a:buAutoNum type="arabicPeriod"/>
            </a:pPr>
            <a:r>
              <a:rPr lang="en-US" sz="1600" dirty="0">
                <a:latin typeface="Arial" panose="020B0604020202020204" pitchFamily="34" charset="0"/>
                <a:cs typeface="Arial" panose="020B0604020202020204" pitchFamily="34" charset="0"/>
              </a:rPr>
              <a:t>Start your Linux virtual machine (here, I am using Linux Mint) and open a terminal. If it’s the first time running your system, update it by running </a:t>
            </a:r>
            <a:r>
              <a:rPr lang="en-US" sz="1600" u="sng" dirty="0" err="1">
                <a:latin typeface="Arial" panose="020B0604020202020204" pitchFamily="34" charset="0"/>
                <a:cs typeface="Arial" panose="020B0604020202020204" pitchFamily="34" charset="0"/>
              </a:rPr>
              <a:t>sudo</a:t>
            </a:r>
            <a:r>
              <a:rPr lang="en-US" sz="1600" u="sng" dirty="0">
                <a:latin typeface="Arial" panose="020B0604020202020204" pitchFamily="34" charset="0"/>
                <a:cs typeface="Arial" panose="020B0604020202020204" pitchFamily="34" charset="0"/>
              </a:rPr>
              <a:t> apt update</a:t>
            </a:r>
            <a:r>
              <a:rPr lang="en-US" sz="1600" dirty="0">
                <a:latin typeface="Arial" panose="020B0604020202020204" pitchFamily="34" charset="0"/>
                <a:cs typeface="Arial" panose="020B0604020202020204" pitchFamily="34" charset="0"/>
              </a:rPr>
              <a:t> and </a:t>
            </a:r>
            <a:r>
              <a:rPr lang="en-US" sz="1600" dirty="0" err="1">
                <a:latin typeface="Arial" panose="020B0604020202020204" pitchFamily="34" charset="0"/>
                <a:cs typeface="Arial" panose="020B0604020202020204" pitchFamily="34" charset="0"/>
              </a:rPr>
              <a:t>sudo</a:t>
            </a:r>
            <a:r>
              <a:rPr lang="en-US" sz="1600" dirty="0">
                <a:latin typeface="Arial" panose="020B0604020202020204" pitchFamily="34" charset="0"/>
                <a:cs typeface="Arial" panose="020B0604020202020204" pitchFamily="34" charset="0"/>
              </a:rPr>
              <a:t> </a:t>
            </a:r>
            <a:r>
              <a:rPr lang="en-US" sz="1600" u="sng" dirty="0">
                <a:latin typeface="Arial" panose="020B0604020202020204" pitchFamily="34" charset="0"/>
                <a:cs typeface="Arial" panose="020B0604020202020204" pitchFamily="34" charset="0"/>
              </a:rPr>
              <a:t>apt upgrade</a:t>
            </a:r>
            <a:r>
              <a:rPr lang="en-US" sz="1600" dirty="0">
                <a:latin typeface="Arial" panose="020B0604020202020204" pitchFamily="34" charset="0"/>
                <a:cs typeface="Arial" panose="020B0604020202020204" pitchFamily="34" charset="0"/>
              </a:rPr>
              <a:t> to ensure all packages are up to date. </a:t>
            </a:r>
          </a:p>
          <a:p>
            <a:pPr marL="342900" indent="-342900">
              <a:buFont typeface="+mj-lt"/>
              <a:buAutoNum type="arabicPeriod"/>
            </a:pPr>
            <a:r>
              <a:rPr lang="en-US" sz="1600" dirty="0">
                <a:latin typeface="Arial" panose="020B0604020202020204" pitchFamily="34" charset="0"/>
                <a:cs typeface="Arial" panose="020B0604020202020204" pitchFamily="34" charset="0"/>
              </a:rPr>
              <a:t>Install the necessary packages for remote X11 forwarding by running </a:t>
            </a:r>
            <a:r>
              <a:rPr lang="en-US" sz="1600" dirty="0" err="1">
                <a:latin typeface="Arial" panose="020B0604020202020204" pitchFamily="34" charset="0"/>
                <a:cs typeface="Arial" panose="020B0604020202020204" pitchFamily="34" charset="0"/>
              </a:rPr>
              <a:t>sudo</a:t>
            </a:r>
            <a:r>
              <a:rPr lang="en-US" sz="1600" dirty="0">
                <a:latin typeface="Arial" panose="020B0604020202020204" pitchFamily="34" charset="0"/>
                <a:cs typeface="Arial" panose="020B0604020202020204" pitchFamily="34" charset="0"/>
              </a:rPr>
              <a:t> apt install </a:t>
            </a:r>
            <a:r>
              <a:rPr lang="en-US" sz="1600" dirty="0" err="1">
                <a:latin typeface="Arial" panose="020B0604020202020204" pitchFamily="34" charset="0"/>
                <a:cs typeface="Arial" panose="020B0604020202020204" pitchFamily="34" charset="0"/>
              </a:rPr>
              <a:t>xauth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openssh</a:t>
            </a:r>
            <a:r>
              <a:rPr lang="en-US" sz="1600" dirty="0">
                <a:latin typeface="Arial" panose="020B0604020202020204" pitchFamily="34" charset="0"/>
                <a:cs typeface="Arial" panose="020B0604020202020204" pitchFamily="34" charset="0"/>
              </a:rPr>
              <a:t>-server.</a:t>
            </a:r>
          </a:p>
          <a:p>
            <a:pPr marL="342900" indent="-342900">
              <a:buFont typeface="+mj-lt"/>
              <a:buAutoNum type="arabicPeriod"/>
            </a:pPr>
            <a:r>
              <a:rPr lang="en-US" sz="1600" dirty="0">
                <a:latin typeface="Arial" panose="020B0604020202020204" pitchFamily="34" charset="0"/>
                <a:cs typeface="Arial" panose="020B0604020202020204" pitchFamily="34" charset="0"/>
              </a:rPr>
              <a:t>Open ssh config file using </a:t>
            </a:r>
            <a:r>
              <a:rPr lang="en-US" sz="1600" u="sng" dirty="0" err="1">
                <a:latin typeface="Arial" panose="020B0604020202020204" pitchFamily="34" charset="0"/>
                <a:cs typeface="Arial" panose="020B0604020202020204" pitchFamily="34" charset="0"/>
              </a:rPr>
              <a:t>sudo</a:t>
            </a:r>
            <a:r>
              <a:rPr lang="en-US" sz="1600" u="sng" dirty="0">
                <a:latin typeface="Arial" panose="020B0604020202020204" pitchFamily="34" charset="0"/>
                <a:cs typeface="Arial" panose="020B0604020202020204" pitchFamily="34" charset="0"/>
              </a:rPr>
              <a:t> nano </a:t>
            </a:r>
            <a:r>
              <a:rPr lang="en-US" sz="1600" u="sng" dirty="0"/>
              <a:t>/</a:t>
            </a:r>
            <a:r>
              <a:rPr lang="en-US" sz="1600" u="sng" dirty="0" err="1"/>
              <a:t>etc</a:t>
            </a:r>
            <a:r>
              <a:rPr lang="en-US" sz="1600" u="sng" dirty="0"/>
              <a:t>/ssh/</a:t>
            </a:r>
            <a:r>
              <a:rPr lang="en-US" sz="1600" u="sng" dirty="0" err="1"/>
              <a:t>sshd_config</a:t>
            </a:r>
            <a:r>
              <a:rPr lang="en-US" sz="1600" u="sng" dirty="0"/>
              <a:t>,</a:t>
            </a:r>
            <a:r>
              <a:rPr lang="en-US" sz="1600" dirty="0"/>
              <a:t> set </a:t>
            </a:r>
            <a:r>
              <a:rPr lang="en-US" sz="1600" u="sng" dirty="0"/>
              <a:t>X11Forwarding yes</a:t>
            </a:r>
            <a:r>
              <a:rPr lang="en-US" sz="1600" dirty="0"/>
              <a:t> and </a:t>
            </a:r>
            <a:r>
              <a:rPr lang="en-US" sz="1600" u="sng" dirty="0"/>
              <a:t>X11DisplayOffset 10 </a:t>
            </a:r>
            <a:r>
              <a:rPr lang="en-US" sz="1600" dirty="0"/>
              <a:t>and restart the server using  </a:t>
            </a:r>
            <a:r>
              <a:rPr lang="en-US" sz="1600" u="sng" dirty="0" err="1"/>
              <a:t>sudo</a:t>
            </a:r>
            <a:r>
              <a:rPr lang="en-US" sz="1600" u="sng" dirty="0"/>
              <a:t> </a:t>
            </a:r>
            <a:r>
              <a:rPr lang="en-US" sz="1600" u="sng" dirty="0" err="1"/>
              <a:t>systemctl</a:t>
            </a:r>
            <a:r>
              <a:rPr lang="en-US" sz="1600" u="sng" dirty="0"/>
              <a:t> restart ssh</a:t>
            </a:r>
          </a:p>
          <a:p>
            <a:pPr marL="342900" indent="-342900">
              <a:buFont typeface="+mj-lt"/>
              <a:buAutoNum type="arabicPeriod"/>
            </a:pPr>
            <a:r>
              <a:rPr lang="en-US" sz="1600" dirty="0"/>
              <a:t>Run </a:t>
            </a:r>
            <a:r>
              <a:rPr lang="en-US" sz="1600" u="sng" dirty="0" err="1"/>
              <a:t>ip</a:t>
            </a:r>
            <a:r>
              <a:rPr lang="en-US" sz="1600" u="sng" dirty="0"/>
              <a:t> a </a:t>
            </a:r>
            <a:r>
              <a:rPr lang="en-US" sz="1600" dirty="0"/>
              <a:t> to see your </a:t>
            </a:r>
            <a:r>
              <a:rPr lang="en-US" sz="1600" dirty="0" err="1"/>
              <a:t>ip</a:t>
            </a:r>
            <a:r>
              <a:rPr lang="en-US" sz="1600" dirty="0"/>
              <a:t> address, it will be used on putty.</a:t>
            </a:r>
            <a:endParaRPr lang="en-US" sz="1600" u="sng" dirty="0"/>
          </a:p>
          <a:p>
            <a:pPr marL="342900" indent="-342900">
              <a:buFont typeface="+mj-lt"/>
              <a:buAutoNum type="arabicPeriod"/>
            </a:pPr>
            <a:r>
              <a:rPr lang="en-US" sz="1600" dirty="0"/>
              <a:t>Start </a:t>
            </a:r>
            <a:r>
              <a:rPr lang="en-US" sz="1600" u="sng" dirty="0" err="1"/>
              <a:t>Xming</a:t>
            </a:r>
            <a:r>
              <a:rPr lang="en-US" sz="1600" dirty="0"/>
              <a:t> on windows and check if its running [1] by clicking on system tray. Then, open </a:t>
            </a:r>
            <a:r>
              <a:rPr lang="en-US" sz="1600" u="sng" dirty="0"/>
              <a:t>PuTTY</a:t>
            </a:r>
            <a:r>
              <a:rPr lang="en-US" sz="1600" dirty="0"/>
              <a:t> and enter your Linux VM’s IP address[2] in the Host Name field. Go to Connection → SSH → X11 and enable X11 forwarding, set X display location[3] to localhost:0.</a:t>
            </a:r>
          </a:p>
        </p:txBody>
      </p:sp>
      <p:pic>
        <p:nvPicPr>
          <p:cNvPr id="6" name="Picture 5" descr="A screenshot of a computer&#10;&#10;AI-generated content may be incorrect.">
            <a:extLst>
              <a:ext uri="{FF2B5EF4-FFF2-40B4-BE49-F238E27FC236}">
                <a16:creationId xmlns:a16="http://schemas.microsoft.com/office/drawing/2014/main" id="{B0DD6D7A-8907-54C5-82C1-8B68C1BE4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298" y="3778319"/>
            <a:ext cx="2556497" cy="1388182"/>
          </a:xfrm>
          <a:prstGeom prst="rect">
            <a:avLst/>
          </a:prstGeom>
          <a:ln>
            <a:solidFill>
              <a:schemeClr val="tx1"/>
            </a:solidFill>
          </a:ln>
        </p:spPr>
      </p:pic>
      <p:pic>
        <p:nvPicPr>
          <p:cNvPr id="12" name="Picture 11" descr="A screenshot of a computer&#10;&#10;AI-generated content may be incorrect.">
            <a:extLst>
              <a:ext uri="{FF2B5EF4-FFF2-40B4-BE49-F238E27FC236}">
                <a16:creationId xmlns:a16="http://schemas.microsoft.com/office/drawing/2014/main" id="{EE859C2F-75CF-D3AB-EEFD-E64B7DDC2127}"/>
              </a:ext>
            </a:extLst>
          </p:cNvPr>
          <p:cNvPicPr>
            <a:picLocks noChangeAspect="1"/>
          </p:cNvPicPr>
          <p:nvPr/>
        </p:nvPicPr>
        <p:blipFill>
          <a:blip r:embed="rId3">
            <a:extLst>
              <a:ext uri="{28A0092B-C50C-407E-A947-70E740481C1C}">
                <a14:useLocalDpi xmlns:a14="http://schemas.microsoft.com/office/drawing/2010/main" val="0"/>
              </a:ext>
            </a:extLst>
          </a:blip>
          <a:srcRect b="58283"/>
          <a:stretch>
            <a:fillRect/>
          </a:stretch>
        </p:blipFill>
        <p:spPr>
          <a:xfrm>
            <a:off x="3939899" y="3779010"/>
            <a:ext cx="3337541" cy="1388182"/>
          </a:xfrm>
          <a:prstGeom prst="rect">
            <a:avLst/>
          </a:prstGeom>
          <a:ln>
            <a:solidFill>
              <a:schemeClr val="tx1"/>
            </a:solidFill>
          </a:ln>
        </p:spPr>
      </p:pic>
      <p:pic>
        <p:nvPicPr>
          <p:cNvPr id="14" name="Picture 13" descr="A screenshot of a computer&#10;&#10;AI-generated content may be incorrect.">
            <a:extLst>
              <a:ext uri="{FF2B5EF4-FFF2-40B4-BE49-F238E27FC236}">
                <a16:creationId xmlns:a16="http://schemas.microsoft.com/office/drawing/2014/main" id="{CE0BDD2D-9FA2-CACB-3EF8-3AE46683A23B}"/>
              </a:ext>
            </a:extLst>
          </p:cNvPr>
          <p:cNvPicPr>
            <a:picLocks noChangeAspect="1"/>
          </p:cNvPicPr>
          <p:nvPr/>
        </p:nvPicPr>
        <p:blipFill>
          <a:blip r:embed="rId4">
            <a:extLst>
              <a:ext uri="{28A0092B-C50C-407E-A947-70E740481C1C}">
                <a14:useLocalDpi xmlns:a14="http://schemas.microsoft.com/office/drawing/2010/main" val="0"/>
              </a:ext>
            </a:extLst>
          </a:blip>
          <a:srcRect b="52483"/>
          <a:stretch>
            <a:fillRect/>
          </a:stretch>
        </p:blipFill>
        <p:spPr>
          <a:xfrm>
            <a:off x="8128544" y="3778319"/>
            <a:ext cx="2845434" cy="1388182"/>
          </a:xfrm>
          <a:prstGeom prst="rect">
            <a:avLst/>
          </a:prstGeom>
          <a:ln>
            <a:solidFill>
              <a:schemeClr val="tx1"/>
            </a:solidFill>
          </a:ln>
        </p:spPr>
      </p:pic>
      <p:sp>
        <p:nvSpPr>
          <p:cNvPr id="15" name="Oval 14">
            <a:extLst>
              <a:ext uri="{FF2B5EF4-FFF2-40B4-BE49-F238E27FC236}">
                <a16:creationId xmlns:a16="http://schemas.microsoft.com/office/drawing/2014/main" id="{839282F2-1D27-DB2C-D5B5-E09E5003288E}"/>
              </a:ext>
            </a:extLst>
          </p:cNvPr>
          <p:cNvSpPr/>
          <p:nvPr/>
        </p:nvSpPr>
        <p:spPr>
          <a:xfrm>
            <a:off x="2512497" y="3845794"/>
            <a:ext cx="412750" cy="41910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1</a:t>
            </a:r>
          </a:p>
        </p:txBody>
      </p:sp>
      <p:sp>
        <p:nvSpPr>
          <p:cNvPr id="16" name="Oval 15">
            <a:extLst>
              <a:ext uri="{FF2B5EF4-FFF2-40B4-BE49-F238E27FC236}">
                <a16:creationId xmlns:a16="http://schemas.microsoft.com/office/drawing/2014/main" id="{2F3238B0-30B1-6FE9-1BA6-F3A167E89408}"/>
              </a:ext>
            </a:extLst>
          </p:cNvPr>
          <p:cNvSpPr/>
          <p:nvPr/>
        </p:nvSpPr>
        <p:spPr>
          <a:xfrm>
            <a:off x="4616450" y="3851257"/>
            <a:ext cx="412750" cy="41910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2</a:t>
            </a:r>
          </a:p>
        </p:txBody>
      </p:sp>
      <p:sp>
        <p:nvSpPr>
          <p:cNvPr id="17" name="Oval 16">
            <a:extLst>
              <a:ext uri="{FF2B5EF4-FFF2-40B4-BE49-F238E27FC236}">
                <a16:creationId xmlns:a16="http://schemas.microsoft.com/office/drawing/2014/main" id="{D6FFFF75-1633-1F84-5655-742329279D69}"/>
              </a:ext>
            </a:extLst>
          </p:cNvPr>
          <p:cNvSpPr/>
          <p:nvPr/>
        </p:nvSpPr>
        <p:spPr>
          <a:xfrm>
            <a:off x="10561228" y="3845794"/>
            <a:ext cx="412750" cy="41910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3</a:t>
            </a:r>
          </a:p>
        </p:txBody>
      </p:sp>
      <p:cxnSp>
        <p:nvCxnSpPr>
          <p:cNvPr id="19" name="Straight Arrow Connector 18">
            <a:extLst>
              <a:ext uri="{FF2B5EF4-FFF2-40B4-BE49-F238E27FC236}">
                <a16:creationId xmlns:a16="http://schemas.microsoft.com/office/drawing/2014/main" id="{2C76FE6A-AC31-9C14-5297-C60665656BDE}"/>
              </a:ext>
            </a:extLst>
          </p:cNvPr>
          <p:cNvCxnSpPr/>
          <p:nvPr/>
        </p:nvCxnSpPr>
        <p:spPr>
          <a:xfrm>
            <a:off x="4616450" y="4556107"/>
            <a:ext cx="495300" cy="50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F45EB35-1B9F-D822-EAB9-64BE991426BE}"/>
              </a:ext>
            </a:extLst>
          </p:cNvPr>
          <p:cNvCxnSpPr/>
          <p:nvPr/>
        </p:nvCxnSpPr>
        <p:spPr>
          <a:xfrm>
            <a:off x="8627358" y="4334744"/>
            <a:ext cx="495300" cy="50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F05A4C7-8703-00E8-121E-A2378457AE0C}"/>
              </a:ext>
            </a:extLst>
          </p:cNvPr>
          <p:cNvCxnSpPr>
            <a:cxnSpLocks/>
          </p:cNvCxnSpPr>
          <p:nvPr/>
        </p:nvCxnSpPr>
        <p:spPr>
          <a:xfrm flipH="1" flipV="1">
            <a:off x="10475208" y="4606216"/>
            <a:ext cx="498770" cy="2539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577A87ED-1A9A-2BA4-1DC1-D36B2F0352F2}"/>
              </a:ext>
            </a:extLst>
          </p:cNvPr>
          <p:cNvSpPr txBox="1"/>
          <p:nvPr/>
        </p:nvSpPr>
        <p:spPr>
          <a:xfrm>
            <a:off x="212448" y="5330737"/>
            <a:ext cx="11529213" cy="338554"/>
          </a:xfrm>
          <a:prstGeom prst="rect">
            <a:avLst/>
          </a:prstGeom>
          <a:noFill/>
        </p:spPr>
        <p:txBody>
          <a:bodyPr wrap="square">
            <a:spAutoFit/>
          </a:bodyPr>
          <a:lstStyle/>
          <a:p>
            <a:pPr marL="342900" indent="-342900">
              <a:buFont typeface="Arial" panose="020B0604020202020204" pitchFamily="34" charset="0"/>
              <a:buChar char="•"/>
            </a:pPr>
            <a:r>
              <a:rPr lang="en-US" sz="1600" dirty="0"/>
              <a:t>Click Open to start the SSH session, and log in with your Linux VM username and password.</a:t>
            </a:r>
          </a:p>
        </p:txBody>
      </p:sp>
      <p:pic>
        <p:nvPicPr>
          <p:cNvPr id="24" name="Picture 23" descr="A screenshot of a computer&#10;&#10;AI-generated content may be incorrect.">
            <a:extLst>
              <a:ext uri="{FF2B5EF4-FFF2-40B4-BE49-F238E27FC236}">
                <a16:creationId xmlns:a16="http://schemas.microsoft.com/office/drawing/2014/main" id="{E934BC5C-B630-A99E-0B8C-A6F3D094F427}"/>
              </a:ext>
            </a:extLst>
          </p:cNvPr>
          <p:cNvPicPr>
            <a:picLocks noChangeAspect="1"/>
          </p:cNvPicPr>
          <p:nvPr/>
        </p:nvPicPr>
        <p:blipFill>
          <a:blip r:embed="rId5">
            <a:extLst>
              <a:ext uri="{28A0092B-C50C-407E-A947-70E740481C1C}">
                <a14:useLocalDpi xmlns:a14="http://schemas.microsoft.com/office/drawing/2010/main" val="0"/>
              </a:ext>
            </a:extLst>
          </a:blip>
          <a:srcRect b="64800"/>
          <a:stretch>
            <a:fillRect/>
          </a:stretch>
        </p:blipFill>
        <p:spPr>
          <a:xfrm>
            <a:off x="648747" y="5662215"/>
            <a:ext cx="5264807" cy="1072919"/>
          </a:xfrm>
          <a:prstGeom prst="rect">
            <a:avLst/>
          </a:prstGeom>
        </p:spPr>
      </p:pic>
    </p:spTree>
    <p:extLst>
      <p:ext uri="{BB962C8B-B14F-4D97-AF65-F5344CB8AC3E}">
        <p14:creationId xmlns:p14="http://schemas.microsoft.com/office/powerpoint/2010/main" val="9158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830B2-8387-4544-A467-6FB5CF449883}"/>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8259D2E2-2858-C534-799F-FC86575EFF67}"/>
              </a:ext>
            </a:extLst>
          </p:cNvPr>
          <p:cNvSpPr txBox="1"/>
          <p:nvPr/>
        </p:nvSpPr>
        <p:spPr>
          <a:xfrm>
            <a:off x="96699" y="228938"/>
            <a:ext cx="11833502" cy="738664"/>
          </a:xfrm>
          <a:prstGeom prst="rect">
            <a:avLst/>
          </a:prstGeom>
          <a:noFill/>
        </p:spPr>
        <p:txBody>
          <a:bodyPr wrap="square">
            <a:spAutoFit/>
          </a:bodyPr>
          <a:lstStyle/>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To start a browser, for example, I’m using Firefox, so I simply type </a:t>
            </a:r>
            <a:r>
              <a:rPr lang="en-US" sz="1400" dirty="0" err="1">
                <a:latin typeface="Arial" panose="020B0604020202020204" pitchFamily="34" charset="0"/>
                <a:cs typeface="Arial" panose="020B0604020202020204" pitchFamily="34" charset="0"/>
              </a:rPr>
              <a:t>firefox</a:t>
            </a:r>
            <a:r>
              <a:rPr lang="en-US" sz="1400" dirty="0">
                <a:latin typeface="Arial" panose="020B0604020202020204" pitchFamily="34" charset="0"/>
                <a:cs typeface="Arial" panose="020B0604020202020204" pitchFamily="34" charset="0"/>
              </a:rPr>
              <a:t> and it will open in a separate window. I chose Firefox because Google Chrome was too heavy to run on X11 and faced freezing issue. If you’re using Firefox and still notice lag or freezes, make sure in your VirtualBox settings to enable 3D acceleration and allocate more video memory (VRAM)</a:t>
            </a:r>
          </a:p>
        </p:txBody>
      </p:sp>
      <p:pic>
        <p:nvPicPr>
          <p:cNvPr id="22" name="Picture 21" descr="A screenshot of a computer&#10;&#10;AI-generated content may be incorrect.">
            <a:extLst>
              <a:ext uri="{FF2B5EF4-FFF2-40B4-BE49-F238E27FC236}">
                <a16:creationId xmlns:a16="http://schemas.microsoft.com/office/drawing/2014/main" id="{6C2B8A6C-7C92-DC5A-4AFF-14A8CB84F2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813" y="1225550"/>
            <a:ext cx="8404290" cy="5251450"/>
          </a:xfrm>
          <a:prstGeom prst="rect">
            <a:avLst/>
          </a:prstGeom>
        </p:spPr>
      </p:pic>
      <p:sp>
        <p:nvSpPr>
          <p:cNvPr id="23" name="TextBox 22">
            <a:extLst>
              <a:ext uri="{FF2B5EF4-FFF2-40B4-BE49-F238E27FC236}">
                <a16:creationId xmlns:a16="http://schemas.microsoft.com/office/drawing/2014/main" id="{481DC576-21F4-1AFC-0AB1-DE27E56CC850}"/>
              </a:ext>
            </a:extLst>
          </p:cNvPr>
          <p:cNvSpPr txBox="1"/>
          <p:nvPr/>
        </p:nvSpPr>
        <p:spPr>
          <a:xfrm>
            <a:off x="9050455" y="2262138"/>
            <a:ext cx="2787650" cy="1569660"/>
          </a:xfrm>
          <a:prstGeom prst="rect">
            <a:avLst/>
          </a:prstGeom>
          <a:noFill/>
        </p:spPr>
        <p:txBody>
          <a:bodyPr wrap="square">
            <a:spAutoFit/>
          </a:bodyPr>
          <a:lstStyle/>
          <a:p>
            <a:r>
              <a:rPr lang="en-US" sz="1600" dirty="0"/>
              <a:t>Firefox on Linux Mint:</a:t>
            </a:r>
          </a:p>
          <a:p>
            <a:endParaRPr lang="en-US" sz="1600" dirty="0"/>
          </a:p>
          <a:p>
            <a:r>
              <a:rPr lang="en-US" sz="1600" dirty="0"/>
              <a:t>	1st run:   </a:t>
            </a:r>
            <a:r>
              <a:rPr lang="en-US" sz="1600" b="1" dirty="0"/>
              <a:t>13.4</a:t>
            </a:r>
          </a:p>
          <a:p>
            <a:r>
              <a:rPr lang="en-US" sz="1600" dirty="0"/>
              <a:t>	2nd run:  </a:t>
            </a:r>
            <a:r>
              <a:rPr lang="en-US" sz="1600" b="1" dirty="0"/>
              <a:t>12.6</a:t>
            </a:r>
          </a:p>
          <a:p>
            <a:r>
              <a:rPr lang="en-US" sz="1600" dirty="0"/>
              <a:t>	3rd run:   </a:t>
            </a:r>
            <a:r>
              <a:rPr lang="en-US" sz="1600" b="1" dirty="0"/>
              <a:t>12.1</a:t>
            </a:r>
          </a:p>
          <a:p>
            <a:r>
              <a:rPr lang="en-US" sz="1600" dirty="0"/>
              <a:t>	      AVG:   </a:t>
            </a:r>
            <a:r>
              <a:rPr lang="en-US" sz="1600" b="1" dirty="0"/>
              <a:t>12.7</a:t>
            </a:r>
          </a:p>
        </p:txBody>
      </p:sp>
    </p:spTree>
    <p:extLst>
      <p:ext uri="{BB962C8B-B14F-4D97-AF65-F5344CB8AC3E}">
        <p14:creationId xmlns:p14="http://schemas.microsoft.com/office/powerpoint/2010/main" val="3246084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02CCF4F-D290-3DC9-0BF7-C2BE994F6BE7}"/>
              </a:ext>
            </a:extLst>
          </p:cNvPr>
          <p:cNvSpPr/>
          <p:nvPr/>
        </p:nvSpPr>
        <p:spPr>
          <a:xfrm>
            <a:off x="212448" y="180829"/>
            <a:ext cx="2971289" cy="48460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Self evaluation</a:t>
            </a:r>
          </a:p>
        </p:txBody>
      </p:sp>
      <p:sp>
        <p:nvSpPr>
          <p:cNvPr id="5" name="TextBox 4">
            <a:extLst>
              <a:ext uri="{FF2B5EF4-FFF2-40B4-BE49-F238E27FC236}">
                <a16:creationId xmlns:a16="http://schemas.microsoft.com/office/drawing/2014/main" id="{20394406-EB73-071F-0191-BADF010E68C7}"/>
              </a:ext>
            </a:extLst>
          </p:cNvPr>
          <p:cNvSpPr txBox="1"/>
          <p:nvPr/>
        </p:nvSpPr>
        <p:spPr>
          <a:xfrm>
            <a:off x="323850" y="1136650"/>
            <a:ext cx="11461750" cy="4247317"/>
          </a:xfrm>
          <a:prstGeom prst="rect">
            <a:avLst/>
          </a:prstGeom>
          <a:noFill/>
        </p:spPr>
        <p:txBody>
          <a:bodyPr wrap="square" rtlCol="0">
            <a:spAutoFit/>
          </a:bodyPr>
          <a:lstStyle/>
          <a:p>
            <a:pPr algn="just"/>
            <a:r>
              <a:rPr lang="en-US" dirty="0"/>
              <a:t>	Using school’s virtual desktop using </a:t>
            </a:r>
            <a:r>
              <a:rPr lang="en-US" u="sng" dirty="0" err="1"/>
              <a:t>citrix</a:t>
            </a:r>
            <a:r>
              <a:rPr lang="en-US" dirty="0"/>
              <a:t> was ideal because I am accessing pre-configured environment with all necessary software already installed and I didn’t have to configure anything on my local machine other than installing its application, but seems like it is more dependent to school server and my internet connection because the benchmark was showing lowest results on this task.</a:t>
            </a:r>
          </a:p>
          <a:p>
            <a:pPr algn="just"/>
            <a:endParaRPr lang="en-US" dirty="0"/>
          </a:p>
          <a:p>
            <a:pPr algn="just"/>
            <a:r>
              <a:rPr lang="en-US" dirty="0"/>
              <a:t>	With RDC I have full control over my virtual machine and for me this method is more useful if I want to interact multiple application, using this method on window was pretty straight forward and easy but if I want to interact with specific individual application, X11 forwarding over ssh was more suitable.</a:t>
            </a:r>
          </a:p>
          <a:p>
            <a:pPr algn="just"/>
            <a:endParaRPr lang="en-US" dirty="0"/>
          </a:p>
          <a:p>
            <a:pPr algn="just"/>
            <a:r>
              <a:rPr lang="en-US" dirty="0"/>
              <a:t>	Another thing I observed was VRDE allows me to access the virtual machine even when the other </a:t>
            </a:r>
            <a:r>
              <a:rPr lang="en-US" dirty="0" err="1"/>
              <a:t>os</a:t>
            </a:r>
            <a:r>
              <a:rPr lang="en-US" dirty="0"/>
              <a:t> is not full booted which makes it more useful than RDP when its unavailable.</a:t>
            </a:r>
          </a:p>
          <a:p>
            <a:pPr algn="just"/>
            <a:endParaRPr lang="en-US" dirty="0"/>
          </a:p>
          <a:p>
            <a:pPr algn="just"/>
            <a:r>
              <a:rPr lang="en-US" dirty="0"/>
              <a:t>	I tried to SSH from Windows Terminal and Command Prompt with X11 forwarding, but I kept getting an error saying that X11 forwarding was not enabled, even though it is enabled on the Linux. I couldn’t figure out what I was doing wrong.</a:t>
            </a:r>
          </a:p>
        </p:txBody>
      </p:sp>
    </p:spTree>
    <p:extLst>
      <p:ext uri="{BB962C8B-B14F-4D97-AF65-F5344CB8AC3E}">
        <p14:creationId xmlns:p14="http://schemas.microsoft.com/office/powerpoint/2010/main" val="1383102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3D3C753780B64F8AFD15FF82E94FD5" ma:contentTypeVersion="10" ma:contentTypeDescription="Create a new document." ma:contentTypeScope="" ma:versionID="f7e6182de6a846e7913b0d8b9cbd257d">
  <xsd:schema xmlns:xsd="http://www.w3.org/2001/XMLSchema" xmlns:xs="http://www.w3.org/2001/XMLSchema" xmlns:p="http://schemas.microsoft.com/office/2006/metadata/properties" xmlns:ns3="cb6777fa-54be-49ee-b6a7-0f1af5345de3" targetNamespace="http://schemas.microsoft.com/office/2006/metadata/properties" ma:root="true" ma:fieldsID="df34666afcf897c37f513b67ae9a3e80" ns3:_="">
    <xsd:import namespace="cb6777fa-54be-49ee-b6a7-0f1af5345de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6777fa-54be-49ee-b6a7-0f1af5345de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b6777fa-54be-49ee-b6a7-0f1af5345de3" xsi:nil="true"/>
  </documentManagement>
</p:properties>
</file>

<file path=customXml/itemProps1.xml><?xml version="1.0" encoding="utf-8"?>
<ds:datastoreItem xmlns:ds="http://schemas.openxmlformats.org/officeDocument/2006/customXml" ds:itemID="{F3818CA8-7B21-418B-B52A-47F8668534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6777fa-54be-49ee-b6a7-0f1af5345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2818E89-A157-4242-BA73-48BC33B30C11}">
  <ds:schemaRefs>
    <ds:schemaRef ds:uri="http://schemas.microsoft.com/sharepoint/v3/contenttype/forms"/>
  </ds:schemaRefs>
</ds:datastoreItem>
</file>

<file path=customXml/itemProps3.xml><?xml version="1.0" encoding="utf-8"?>
<ds:datastoreItem xmlns:ds="http://schemas.openxmlformats.org/officeDocument/2006/customXml" ds:itemID="{429C86BB-775D-4BCB-A416-EE26DC45C530}">
  <ds:schemaRefs>
    <ds:schemaRef ds:uri="http://purl.org/dc/terms/"/>
    <ds:schemaRef ds:uri="cb6777fa-54be-49ee-b6a7-0f1af5345de3"/>
    <ds:schemaRef ds:uri="http://purl.org/dc/elements/1.1/"/>
    <ds:schemaRef ds:uri="http://schemas.microsoft.com/office/2006/documentManagement/types"/>
    <ds:schemaRef ds:uri="http://schemas.microsoft.com/office/2006/metadata/properties"/>
    <ds:schemaRef ds:uri="http://purl.org/dc/dcmitype/"/>
    <ds:schemaRef ds:uri="http://www.w3.org/XML/1998/namespace"/>
    <ds:schemaRef ds:uri="http://schemas.openxmlformats.org/package/2006/metadata/core-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119</TotalTime>
  <Words>887</Words>
  <Application>Microsoft Office PowerPoint</Application>
  <PresentationFormat>Widescreen</PresentationFormat>
  <Paragraphs>66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Unubold Luvsandagva</dc:creator>
  <cp:lastModifiedBy>Unubold Luvsandagva</cp:lastModifiedBy>
  <cp:revision>1</cp:revision>
  <dcterms:created xsi:type="dcterms:W3CDTF">2026-02-28T17:59:21Z</dcterms:created>
  <dcterms:modified xsi:type="dcterms:W3CDTF">2026-02-28T19:59:07Z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0x010100B33D3C753780B64F8AFD15FF82E94FD5</vt:lpwstr>
  </property>
</Properties>
</file>